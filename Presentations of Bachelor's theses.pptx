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8" r:id="rId2"/>
    <p:sldId id="259" r:id="rId3"/>
    <p:sldId id="257" r:id="rId4"/>
    <p:sldId id="260" r:id="rId5"/>
    <p:sldId id="267" r:id="rId6"/>
    <p:sldId id="262" r:id="rId7"/>
    <p:sldId id="264" r:id="rId8"/>
    <p:sldId id="266" r:id="rId9"/>
    <p:sldId id="265" r:id="rId10"/>
    <p:sldId id="268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779A6A-4B5B-4880-8428-24B39EC00E81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2A60B0-D09F-4AED-B56C-53228747399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36861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2A60B0-D09F-4AED-B56C-532287473990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66904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2A60B0-D09F-4AED-B56C-532287473990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50804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9AB7F-6C55-D967-DC1A-B75D1ACF92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6C6172-8016-A124-C9AB-DF3E433B0D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E2802-CF2F-693C-0935-D39A94C5E0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BFAEDC-218F-1BC1-0A27-011CF5A91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2897F-BBB1-D4C9-D06B-B1E193CA2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2317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54B8F-26A7-4DAF-868B-DD6643120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101986-FCDA-9A24-9959-44D3657FE6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75E670-C0D6-4A06-3A66-817C195C3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3F79FB-F429-DFA1-5315-1B77449AE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08AF11-6751-9359-4651-368006CFC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8017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56E5B-11AC-2703-36BD-B0B09C82C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6684EA-3A00-B504-ADE0-1596F886A0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118F22-4A36-E64F-B16C-386940E08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4734B8-E673-1058-0BBF-3B1D2014E6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79B405-3665-D5C3-AC2C-A78B04521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2422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7C716-843D-EC17-8F39-7AC76E866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1F773-E22A-F586-FF70-2F88438EE8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E3612-8670-71DE-BB7F-877789F429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28A62B-D830-B276-7FF6-E081E7AC29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F22761-30A7-2582-6C64-F1CC3FDC9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C48ED1-DB05-5AA0-2408-4FE51477A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81338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6EF18-4F53-6F28-7C7E-48806964B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1B020F-BEB6-6785-9AF0-7C6001AE8F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C43301-6B9B-23D2-02C9-EE4867F584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C580B68-8D11-D725-0804-276602CBFF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BFADE8-9666-624E-4290-B36744F1DD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0B03219-80E9-48C7-CEF7-89A12DCBE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469A74-E783-5762-B3F4-8C410AB61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DA13D6-E4A1-4128-E6E5-A13E96BEA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277696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943D2-627B-C12C-5DC4-9A1D54DB8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2574F7-2DB0-D3F6-58B4-3F6630317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5E5186-C98D-9C83-FD44-9ABBC1986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ED7701-8B88-7569-E5EB-1C874A156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4866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2E16C6-7FCE-DDE0-5196-BA93FF8F7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60DE8C-D975-4893-3089-DACA9E196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B71B5E-91B7-13DE-EB54-9FE6AB8F5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4581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15E5D-68EB-51F4-DA6A-352DAD0ED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BC4E4-DEA6-3B35-67A2-68D83D7E2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CAE248-8658-35C2-61DF-0EF632A621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A46ACA-F851-66B1-7D25-2DCCC8720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007F07-4539-9800-D98E-1A266069E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8EEF3E-320D-165F-F1CE-85865E4B8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09154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17896-4B2E-2598-9A66-F13A052C60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16BE5E-AB46-99FA-1D82-806571ADB1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AF73EE-A4BD-934B-2187-F7B5AFC7C6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2AE5B2-E1ED-A137-8CEB-C75CE944A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4D7AD0-2590-8AA7-C6E2-FE441532E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E3CF70-96EE-998B-F4D5-25FB12A17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824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CF6BF-AA73-D9EE-DCCC-0BD13C360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A178A9-ED4B-B70F-F6EC-2B54108AA9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941D36-7326-472E-D5F6-8A4653F2D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1B3079-A198-BB60-A2EA-89546365B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8CB32F-324E-65F7-A951-E459AD639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2122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C5634B-7D23-2A62-1000-2ECAD157CA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3F1891-B769-C5AA-9047-86768A9636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96F6D9-B25B-8EBE-BA00-09348D119B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46F43-F1B2-4AEE-B1BF-466D06853D46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F20ACB-A53B-8CAE-AE13-E45392B84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3F816-D18F-7746-760E-72CFEE6F9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6652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C4541E-8813-CFB4-4BFA-6FEBF0EBF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2C95F5-93CB-D7B3-330C-B6CC8BAAA1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34657B-4E8C-D388-4148-4F099A8699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846F43-F1B2-4AEE-B1BF-466D06853D46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EF71B-99B2-0357-D355-D56C9C680E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47C4B4-1C6B-A8F8-1D4B-FDEDA75E87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913E1D-D1AF-4797-A0B3-1169E698552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12444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miro.com/app/board/uXjVJjGG9q4=/?share_link_id=618929862910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public.tableau.com/app/profile/ivan.ireev/viz/mobile_development_stack_dashboard/Dashboard1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undraw.co/search/questions" TargetMode="External"/><Relationship Id="rId2" Type="http://schemas.openxmlformats.org/officeDocument/2006/relationships/hyperlink" Target="https://undraw.co/search/goal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miro.com/app/board/uXjVJjGG9q4=/?share_link_id=748928656338" TargetMode="External"/><Relationship Id="rId5" Type="http://schemas.openxmlformats.org/officeDocument/2006/relationships/hyperlink" Target="https://public.tableau.com/app/profile/ivan.ireev/viz/mobile_development_stack_dashboard/Dashboard1" TargetMode="External"/><Relationship Id="rId4" Type="http://schemas.openxmlformats.org/officeDocument/2006/relationships/hyperlink" Target="https://undraw.co/search/visual-dat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7EFDF-DC20-8D2D-43F4-20BD34DD77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0"/>
            <a:ext cx="10515600" cy="685800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US" sz="1000" dirty="0"/>
          </a:p>
          <a:p>
            <a:pPr marL="0" indent="0" algn="ctr">
              <a:buNone/>
            </a:pPr>
            <a:r>
              <a:rPr lang="ru-RU" sz="2000" dirty="0">
                <a:cs typeface="Times New Roman" panose="02020603050405020304" pitchFamily="18" charset="0"/>
              </a:rPr>
              <a:t>ЭСТОНСКИЙ УНИВЕРСИТЕТ ПРЕДПРИНИМАТЕЛЬСТВА МАЙНОР</a:t>
            </a: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1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cs typeface="Times New Roman" panose="02020603050405020304" pitchFamily="18" charset="0"/>
              </a:rPr>
              <a:t>Учебная программа: Веб-дизайн и цифровая графика </a:t>
            </a: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cs typeface="Times New Roman" panose="02020603050405020304" pitchFamily="18" charset="0"/>
              </a:rPr>
              <a:t>Специализация: Веб-технологии </a:t>
            </a: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cs typeface="Times New Roman" panose="02020603050405020304" pitchFamily="18" charset="0"/>
              </a:rPr>
              <a:t>Ivan Ireev </a:t>
            </a: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1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400" b="1" dirty="0">
                <a:cs typeface="Times New Roman" panose="02020603050405020304" pitchFamily="18" charset="0"/>
              </a:rPr>
              <a:t>Анализ частоты упоминаний технологий в вакансиях разработчиков iOS и Android в Европе и Северной Америке</a:t>
            </a:r>
            <a:endParaRPr lang="en-US" sz="2400" b="1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1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cs typeface="Times New Roman" panose="02020603050405020304" pitchFamily="18" charset="0"/>
              </a:rPr>
              <a:t>Заключительная работа</a:t>
            </a: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cs typeface="Times New Roman" panose="02020603050405020304" pitchFamily="18" charset="0"/>
            </a:endParaRPr>
          </a:p>
          <a:p>
            <a:pPr marL="0" indent="0" algn="r">
              <a:buNone/>
            </a:pPr>
            <a:r>
              <a:rPr lang="ru-RU" sz="2000" dirty="0">
                <a:cs typeface="Times New Roman" panose="02020603050405020304" pitchFamily="18" charset="0"/>
              </a:rPr>
              <a:t>Руководитель: Boris Shvartsman, PhD</a:t>
            </a: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sz="2000" dirty="0"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ru-RU" sz="2000" dirty="0">
                <a:cs typeface="Times New Roman" panose="02020603050405020304" pitchFamily="18" charset="0"/>
              </a:rPr>
              <a:t>Таллинн 2025</a:t>
            </a:r>
            <a:endParaRPr lang="en-US" sz="2000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4223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90D3B-326F-B5AE-C6AE-B3F0309BE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 темы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7DF751-7727-0AD9-CEF0-7EAA3A8A70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5788" y="1825625"/>
            <a:ext cx="6728011" cy="4351338"/>
          </a:xfrm>
        </p:spPr>
        <p:txBody>
          <a:bodyPr/>
          <a:lstStyle/>
          <a:p>
            <a:r>
              <a:rPr lang="ru-RU" sz="2400" dirty="0"/>
              <a:t>Рынок мобильных приложений стремительно растёт по пользователям, загрузкам и выручке.</a:t>
            </a:r>
          </a:p>
          <a:p>
            <a:r>
              <a:rPr lang="ru-RU" sz="2400" dirty="0"/>
              <a:t>Генеративный ИИ усилил спрос на мобильных разработчиков и расширил круг их задач.</a:t>
            </a:r>
          </a:p>
          <a:p>
            <a:r>
              <a:rPr lang="ru-RU" sz="2400" dirty="0"/>
              <a:t>Европа и Северная Америка — одни из самых прибыльных рынков с высокой концентрацией разработчиков и растущей конкуренцией за позиции.</a:t>
            </a:r>
          </a:p>
          <a:p>
            <a:r>
              <a:rPr lang="ru-RU" sz="2400" dirty="0"/>
              <a:t>Быстрая смена технологий (iOS/Android, языки, фреймворки) усложняет выбор актуальных инструментов и обновление учебных программ.</a:t>
            </a:r>
          </a:p>
          <a:p>
            <a:endParaRPr lang="ru-R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9DC165A-3D18-560E-FBED-71F64A0574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838" y="1604682"/>
            <a:ext cx="3968396" cy="415642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88626AC-C231-9A5E-2FDC-432EF8534FD7}"/>
              </a:ext>
            </a:extLst>
          </p:cNvPr>
          <p:cNvSpPr txBox="1"/>
          <p:nvPr/>
        </p:nvSpPr>
        <p:spPr>
          <a:xfrm>
            <a:off x="1069041" y="5534262"/>
            <a:ext cx="31735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Рисунок 1. Process (источник: unDraw).</a:t>
            </a:r>
          </a:p>
        </p:txBody>
      </p:sp>
    </p:spTree>
    <p:extLst>
      <p:ext uri="{BB962C8B-B14F-4D97-AF65-F5344CB8AC3E}">
        <p14:creationId xmlns:p14="http://schemas.microsoft.com/office/powerpoint/2010/main" val="1710566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06007-9913-3FAF-832F-E2371C880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и цель исследования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8DEFB0-257B-FF2F-231E-61F40C3D48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46375" y="1825625"/>
            <a:ext cx="5607423" cy="4351338"/>
          </a:xfrm>
        </p:spPr>
        <p:txBody>
          <a:bodyPr>
            <a:normAutofit/>
          </a:bodyPr>
          <a:lstStyle/>
          <a:p>
            <a:r>
              <a:rPr lang="ru-RU" sz="2400" dirty="0"/>
              <a:t>Проблема: сложность определения наиболее востребованных навыков и инструментов мобильных разработчиков при быстром обновлении технологий.</a:t>
            </a:r>
          </a:p>
          <a:p>
            <a:r>
              <a:rPr lang="ru-RU" sz="2400" dirty="0"/>
              <a:t>Цель: выявить наиболее часто упоминаемые в вакансиях технологии для iOS- и Android-разработчиков, сравнить требования в Европе и Северной Америке и составить рекомендации по изучению для специалистов и учебных программ.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DA91E0-464F-D5EF-661C-26E975795A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871" y="1690688"/>
            <a:ext cx="4925784" cy="41094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1B9B0D2-6C6A-BF71-9781-EDD0607715F9}"/>
              </a:ext>
            </a:extLst>
          </p:cNvPr>
          <p:cNvSpPr txBox="1"/>
          <p:nvPr/>
        </p:nvSpPr>
        <p:spPr>
          <a:xfrm>
            <a:off x="1620371" y="5646276"/>
            <a:ext cx="31735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Рисунок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Goals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(источник: unDraw).</a:t>
            </a:r>
          </a:p>
        </p:txBody>
      </p:sp>
    </p:spTree>
    <p:extLst>
      <p:ext uri="{BB962C8B-B14F-4D97-AF65-F5344CB8AC3E}">
        <p14:creationId xmlns:p14="http://schemas.microsoft.com/office/powerpoint/2010/main" val="3048753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0B972-DCD3-164E-D66C-C0A738DBF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Методология</a:t>
            </a:r>
          </a:p>
        </p:txBody>
      </p:sp>
      <p:pic>
        <p:nvPicPr>
          <p:cNvPr id="5" name="Content Placeholder 4">
            <a:hlinkClick r:id="rId2"/>
            <a:extLst>
              <a:ext uri="{FF2B5EF4-FFF2-40B4-BE49-F238E27FC236}">
                <a16:creationId xmlns:a16="http://schemas.microsoft.com/office/drawing/2014/main" id="{2F79D6BF-CD45-073D-C09B-B570076797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74067" y="1416680"/>
            <a:ext cx="11043866" cy="519631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76DC912-9FF6-0A1B-44A6-F466EC26ED1D}"/>
              </a:ext>
            </a:extLst>
          </p:cNvPr>
          <p:cNvSpPr txBox="1"/>
          <p:nvPr/>
        </p:nvSpPr>
        <p:spPr>
          <a:xfrm>
            <a:off x="574067" y="6459106"/>
            <a:ext cx="5105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Рисунок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3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Методология (источник: составлено автором).</a:t>
            </a:r>
          </a:p>
        </p:txBody>
      </p:sp>
    </p:spTree>
    <p:extLst>
      <p:ext uri="{BB962C8B-B14F-4D97-AF65-F5344CB8AC3E}">
        <p14:creationId xmlns:p14="http://schemas.microsoft.com/office/powerpoint/2010/main" val="1705616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9A2DA-DD70-C3C0-8B68-81D50155B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C9CA8-3DFA-836C-509E-9569BCC227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682" y="1825625"/>
            <a:ext cx="5472393" cy="4351338"/>
          </a:xfrm>
        </p:spPr>
        <p:txBody>
          <a:bodyPr>
            <a:normAutofit/>
          </a:bodyPr>
          <a:lstStyle/>
          <a:p>
            <a:r>
              <a:rPr lang="ru-RU" sz="2400" dirty="0"/>
              <a:t>2 178 релевантных вакансий iOS/Android (Европа + Северная Америка).</a:t>
            </a:r>
          </a:p>
          <a:p>
            <a:r>
              <a:rPr lang="pt-BR" sz="2400" dirty="0"/>
              <a:t>4 группы: EU+Android, EU+iOS, NA+Android, NA+iOS</a:t>
            </a:r>
            <a:r>
              <a:rPr lang="ru-RU" sz="2400" dirty="0"/>
              <a:t>.</a:t>
            </a:r>
            <a:r>
              <a:rPr lang="pt-BR" sz="2400" dirty="0"/>
              <a:t> </a:t>
            </a:r>
            <a:endParaRPr lang="ru-RU" sz="2400" dirty="0"/>
          </a:p>
          <a:p>
            <a:r>
              <a:rPr lang="ru-RU" sz="2400" dirty="0"/>
              <a:t>213 технологий, сгруппированных в 28 категорий.</a:t>
            </a:r>
          </a:p>
          <a:p>
            <a:r>
              <a:rPr lang="ru-RU" sz="2400" dirty="0"/>
              <a:t>Результаты: таблицы + интерактивный дашборд Tableau с фильтрами.</a:t>
            </a:r>
          </a:p>
        </p:txBody>
      </p:sp>
      <p:pic>
        <p:nvPicPr>
          <p:cNvPr id="4" name="Content Placeholder 6">
            <a:hlinkClick r:id="rId2"/>
            <a:extLst>
              <a:ext uri="{FF2B5EF4-FFF2-40B4-BE49-F238E27FC236}">
                <a16:creationId xmlns:a16="http://schemas.microsoft.com/office/drawing/2014/main" id="{B1BDA3B3-3580-B25A-BDAB-1251FE8DDF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985" y="1825625"/>
            <a:ext cx="5182334" cy="29749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0004905-1524-51BD-B0CF-F15EF156D722}"/>
              </a:ext>
            </a:extLst>
          </p:cNvPr>
          <p:cNvSpPr txBox="1"/>
          <p:nvPr/>
        </p:nvSpPr>
        <p:spPr>
          <a:xfrm>
            <a:off x="918894" y="4935537"/>
            <a:ext cx="5010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Рисунок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Дашборд в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Tableau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(источник: составлено автором).</a:t>
            </a:r>
          </a:p>
        </p:txBody>
      </p:sp>
    </p:spTree>
    <p:extLst>
      <p:ext uri="{BB962C8B-B14F-4D97-AF65-F5344CB8AC3E}">
        <p14:creationId xmlns:p14="http://schemas.microsoft.com/office/powerpoint/2010/main" val="4006114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99884-ED48-50C9-4165-051E6C2BE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</a:t>
            </a:r>
            <a:r>
              <a:rPr lang="en-US" dirty="0"/>
              <a:t> </a:t>
            </a:r>
            <a:r>
              <a:rPr lang="ru-RU" dirty="0"/>
              <a:t>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F2D2F-3CBB-3B06-7E11-EE56A7B515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476499"/>
            <a:ext cx="5181600" cy="3895726"/>
          </a:xfrm>
        </p:spPr>
        <p:txBody>
          <a:bodyPr>
            <a:noAutofit/>
          </a:bodyPr>
          <a:lstStyle/>
          <a:p>
            <a:pPr lvl="1"/>
            <a:r>
              <a:rPr lang="ru-RU" dirty="0"/>
              <a:t>язык платформы  </a:t>
            </a:r>
          </a:p>
          <a:p>
            <a:pPr lvl="1"/>
            <a:r>
              <a:rPr lang="ru-RU" dirty="0"/>
              <a:t>система контроля версий  </a:t>
            </a:r>
          </a:p>
          <a:p>
            <a:pPr lvl="1"/>
            <a:r>
              <a:rPr lang="ru-RU" dirty="0"/>
              <a:t>IDE  </a:t>
            </a:r>
          </a:p>
          <a:p>
            <a:pPr lvl="1"/>
            <a:r>
              <a:rPr lang="ru-RU" dirty="0"/>
              <a:t>сетевое взаимодействие (API)  </a:t>
            </a:r>
          </a:p>
          <a:p>
            <a:pPr lvl="1"/>
            <a:r>
              <a:rPr lang="ru-RU" dirty="0"/>
              <a:t>методологии разработки и PM-инструменты  </a:t>
            </a:r>
          </a:p>
          <a:p>
            <a:pPr lvl="1"/>
            <a:r>
              <a:rPr lang="ru-RU" dirty="0"/>
              <a:t>UI-фреймворки  </a:t>
            </a:r>
          </a:p>
          <a:p>
            <a:pPr lvl="1"/>
            <a:r>
              <a:rPr lang="ru-RU" dirty="0"/>
              <a:t>хранение данных  </a:t>
            </a:r>
          </a:p>
          <a:p>
            <a:pPr lvl="1"/>
            <a:r>
              <a:rPr lang="ru-RU" dirty="0"/>
              <a:t>платформенный SDK/базовые компоненты 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C1DAA2-5DBA-15DA-A878-4F9733F840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2476499"/>
            <a:ext cx="5266765" cy="3895726"/>
          </a:xfrm>
        </p:spPr>
        <p:txBody>
          <a:bodyPr>
            <a:normAutofit fontScale="92500"/>
          </a:bodyPr>
          <a:lstStyle/>
          <a:p>
            <a:pPr lvl="1"/>
            <a:r>
              <a:rPr lang="ru-RU" sz="2600" dirty="0"/>
              <a:t>архитектура и DI </a:t>
            </a:r>
          </a:p>
          <a:p>
            <a:pPr lvl="1"/>
            <a:r>
              <a:rPr lang="ru-RU" sz="2600" dirty="0"/>
              <a:t>каналы публикации  </a:t>
            </a:r>
          </a:p>
          <a:p>
            <a:pPr lvl="1"/>
            <a:r>
              <a:rPr lang="ru-RU" sz="2600" dirty="0"/>
              <a:t>асинхронность/реактивность  </a:t>
            </a:r>
          </a:p>
          <a:p>
            <a:pPr lvl="1"/>
            <a:r>
              <a:rPr lang="ru-RU" sz="2600" dirty="0"/>
              <a:t>сборка и управление зависимостями  </a:t>
            </a:r>
          </a:p>
          <a:p>
            <a:pPr lvl="1"/>
            <a:r>
              <a:rPr lang="ru-RU" sz="2600" dirty="0"/>
              <a:t>тестирование  </a:t>
            </a:r>
          </a:p>
          <a:p>
            <a:pPr lvl="1"/>
            <a:r>
              <a:rPr lang="ru-RU" sz="2600" dirty="0"/>
              <a:t>дополнительные языки  </a:t>
            </a:r>
          </a:p>
          <a:p>
            <a:pPr lvl="1"/>
            <a:r>
              <a:rPr lang="ru-RU" sz="2600" dirty="0"/>
              <a:t>облачные/бэкенд-сервисы (</a:t>
            </a:r>
            <a:r>
              <a:rPr lang="ru-RU" sz="2600" dirty="0" err="1"/>
              <a:t>BaaS</a:t>
            </a:r>
            <a:r>
              <a:rPr lang="ru-RU" sz="2600" dirty="0"/>
              <a:t>)  </a:t>
            </a:r>
          </a:p>
          <a:p>
            <a:pPr lvl="1"/>
            <a:r>
              <a:rPr lang="ru-RU" sz="2600" dirty="0"/>
              <a:t>CI/CD и автоматизация  </a:t>
            </a:r>
          </a:p>
          <a:p>
            <a:pPr lvl="1"/>
            <a:r>
              <a:rPr lang="ru-RU" sz="2600" dirty="0"/>
              <a:t>остальное </a:t>
            </a:r>
          </a:p>
          <a:p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9CB38-4D78-AEF3-5735-8BEACD27A66B}"/>
              </a:ext>
            </a:extLst>
          </p:cNvPr>
          <p:cNvSpPr txBox="1"/>
          <p:nvPr/>
        </p:nvSpPr>
        <p:spPr>
          <a:xfrm>
            <a:off x="838200" y="1752123"/>
            <a:ext cx="90582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По обоим платформам повторяется общий каркас стека: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552502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27215-C1F7-3B59-3396-2A6F8AD57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 и рекомендации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25D273-41BD-973A-6857-8ECB6919C8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1929" y="1825625"/>
            <a:ext cx="6001871" cy="4351338"/>
          </a:xfrm>
        </p:spPr>
        <p:txBody>
          <a:bodyPr>
            <a:normAutofit/>
          </a:bodyPr>
          <a:lstStyle/>
          <a:p>
            <a:r>
              <a:rPr lang="ru-RU" sz="2400" dirty="0"/>
              <a:t>Ключевые выводы: главные требования стабильны как для iOS-, так и для Android-разработчиков, а межрегиональные различия касаются редких/специфичных технологий.</a:t>
            </a:r>
          </a:p>
          <a:p>
            <a:r>
              <a:rPr lang="ru-RU" sz="2400" dirty="0"/>
              <a:t>Результаты исследования согласуются с литературой/прошлыми исследованиями. </a:t>
            </a:r>
          </a:p>
          <a:p>
            <a:r>
              <a:rPr lang="ru-RU" sz="2400" dirty="0"/>
              <a:t>На основе результатов составлены рекомендации по изучению в формате «Основа/Дополнение» для обеих платформ.</a:t>
            </a:r>
            <a:endParaRPr lang="en-US" sz="2400" dirty="0"/>
          </a:p>
          <a:p>
            <a:endParaRPr lang="ru-RU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2FB450-5937-1F1A-26CD-687F83463C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763" y="1687478"/>
            <a:ext cx="4694965" cy="393203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5A2F7D2-F857-8123-1CDB-C7F9F754E351}"/>
              </a:ext>
            </a:extLst>
          </p:cNvPr>
          <p:cNvSpPr txBox="1"/>
          <p:nvPr/>
        </p:nvSpPr>
        <p:spPr>
          <a:xfrm>
            <a:off x="1190212" y="5465621"/>
            <a:ext cx="347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Рисунок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5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Visual Data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(источник: unDraw).</a:t>
            </a:r>
          </a:p>
        </p:txBody>
      </p:sp>
    </p:spTree>
    <p:extLst>
      <p:ext uri="{BB962C8B-B14F-4D97-AF65-F5344CB8AC3E}">
        <p14:creationId xmlns:p14="http://schemas.microsoft.com/office/powerpoint/2010/main" val="32268843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D6EE1-6D2F-9E32-9EC1-EE212D09B27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Спасибо за внимание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C58F630-B371-2B29-97B2-5932BEE916D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314441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DC19C-5148-0A92-9163-5C2674A8D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Ответы рецензенту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109ADB3-8318-D911-588A-B7DA9CF4DA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690688"/>
            <a:ext cx="5025830" cy="4351338"/>
          </a:xfrm>
        </p:spPr>
        <p:txBody>
          <a:bodyPr/>
          <a:lstStyle/>
          <a:p>
            <a:r>
              <a:rPr lang="ru-RU" sz="2400" dirty="0"/>
              <a:t>1. “Собрать корпус вакансий (Google Jobs через SerpApi)“,</a:t>
            </a:r>
          </a:p>
          <a:p>
            <a:pPr marL="914400" lvl="1" indent="-457200">
              <a:buFont typeface="+mj-lt"/>
              <a:buAutoNum type="alphaLcParenR"/>
            </a:pPr>
            <a:r>
              <a:rPr lang="ru-RU" dirty="0" err="1"/>
              <a:t>are</a:t>
            </a:r>
            <a:r>
              <a:rPr lang="ru-RU" dirty="0"/>
              <a:t> </a:t>
            </a:r>
            <a:r>
              <a:rPr lang="ru-RU" dirty="0" err="1"/>
              <a:t>here</a:t>
            </a:r>
            <a:r>
              <a:rPr lang="ru-RU" dirty="0"/>
              <a:t> </a:t>
            </a:r>
            <a:r>
              <a:rPr lang="ru-RU" dirty="0" err="1"/>
              <a:t>other</a:t>
            </a:r>
            <a:r>
              <a:rPr lang="ru-RU" dirty="0"/>
              <a:t> </a:t>
            </a:r>
            <a:r>
              <a:rPr lang="ru-RU" dirty="0" err="1"/>
              <a:t>options</a:t>
            </a:r>
            <a:r>
              <a:rPr lang="ru-RU" dirty="0"/>
              <a:t> </a:t>
            </a:r>
            <a:r>
              <a:rPr lang="ru-RU" dirty="0" err="1"/>
              <a:t>available</a:t>
            </a:r>
            <a:r>
              <a:rPr lang="ru-RU" dirty="0"/>
              <a:t> ?</a:t>
            </a:r>
          </a:p>
          <a:p>
            <a:pPr marL="914400" lvl="1" indent="-457200">
              <a:buFont typeface="+mj-lt"/>
              <a:buAutoNum type="alphaLcParenR"/>
            </a:pPr>
            <a:r>
              <a:rPr lang="ru-RU" dirty="0" err="1"/>
              <a:t>how</a:t>
            </a:r>
            <a:r>
              <a:rPr lang="ru-RU" dirty="0"/>
              <a:t> </a:t>
            </a:r>
            <a:r>
              <a:rPr lang="ru-RU" dirty="0" err="1"/>
              <a:t>well</a:t>
            </a:r>
            <a:r>
              <a:rPr lang="ru-RU" dirty="0"/>
              <a:t> </a:t>
            </a:r>
            <a:r>
              <a:rPr lang="ru-RU" dirty="0" err="1"/>
              <a:t>this</a:t>
            </a:r>
            <a:r>
              <a:rPr lang="ru-RU" dirty="0"/>
              <a:t> </a:t>
            </a:r>
            <a:r>
              <a:rPr lang="ru-RU" dirty="0" err="1"/>
              <a:t>search</a:t>
            </a:r>
            <a:r>
              <a:rPr lang="ru-RU" dirty="0"/>
              <a:t> </a:t>
            </a:r>
            <a:r>
              <a:rPr lang="ru-RU" dirty="0" err="1"/>
              <a:t>cover</a:t>
            </a:r>
            <a:r>
              <a:rPr lang="ru-RU" dirty="0"/>
              <a:t> </a:t>
            </a:r>
            <a:r>
              <a:rPr lang="ru-RU" dirty="0" err="1"/>
              <a:t>real</a:t>
            </a:r>
            <a:r>
              <a:rPr lang="ru-RU" dirty="0"/>
              <a:t> </a:t>
            </a:r>
            <a:r>
              <a:rPr lang="ru-RU" dirty="0" err="1"/>
              <a:t>vacancies</a:t>
            </a:r>
            <a:r>
              <a:rPr lang="ru-RU" dirty="0"/>
              <a:t>?</a:t>
            </a:r>
          </a:p>
          <a:p>
            <a:r>
              <a:rPr lang="ru-RU" sz="2400" dirty="0"/>
              <a:t>2. </a:t>
            </a:r>
            <a:r>
              <a:rPr lang="ru-RU" sz="2400" dirty="0" err="1"/>
              <a:t>Proceeding</a:t>
            </a:r>
            <a:r>
              <a:rPr lang="ru-RU" sz="2400" dirty="0"/>
              <a:t> from </a:t>
            </a:r>
            <a:r>
              <a:rPr lang="ru-RU" sz="2400" dirty="0" err="1"/>
              <a:t>jobs</a:t>
            </a:r>
            <a:r>
              <a:rPr lang="ru-RU" sz="2400" dirty="0"/>
              <a:t> </a:t>
            </a:r>
            <a:r>
              <a:rPr lang="ru-RU" sz="2400" dirty="0" err="1"/>
              <a:t>found</a:t>
            </a:r>
            <a:r>
              <a:rPr lang="ru-RU" sz="2400" dirty="0"/>
              <a:t>, </a:t>
            </a:r>
            <a:r>
              <a:rPr lang="ru-RU" sz="2400" dirty="0" err="1"/>
              <a:t>is</a:t>
            </a:r>
            <a:r>
              <a:rPr lang="ru-RU" sz="2400" dirty="0"/>
              <a:t> </a:t>
            </a:r>
            <a:r>
              <a:rPr lang="ru-RU" sz="2400" dirty="0" err="1"/>
              <a:t>here</a:t>
            </a:r>
            <a:r>
              <a:rPr lang="ru-RU" sz="2400" dirty="0"/>
              <a:t> </a:t>
            </a:r>
            <a:r>
              <a:rPr lang="ru-RU" sz="2400" dirty="0" err="1"/>
              <a:t>possible</a:t>
            </a:r>
            <a:r>
              <a:rPr lang="ru-RU" sz="2400" dirty="0"/>
              <a:t> </a:t>
            </a:r>
            <a:r>
              <a:rPr lang="ru-RU" sz="2400" dirty="0" err="1"/>
              <a:t>do</a:t>
            </a:r>
            <a:r>
              <a:rPr lang="ru-RU" sz="2400" dirty="0"/>
              <a:t> </a:t>
            </a:r>
            <a:r>
              <a:rPr lang="ru-RU" sz="2400" dirty="0" err="1"/>
              <a:t>distinguish</a:t>
            </a:r>
            <a:r>
              <a:rPr lang="ru-RU" sz="2400" dirty="0"/>
              <a:t> </a:t>
            </a:r>
            <a:r>
              <a:rPr lang="ru-RU" sz="2400" dirty="0" err="1"/>
              <a:t>online</a:t>
            </a:r>
            <a:r>
              <a:rPr lang="ru-RU" sz="2400" dirty="0"/>
              <a:t>/</a:t>
            </a:r>
            <a:r>
              <a:rPr lang="ru-RU" sz="2400" dirty="0" err="1"/>
              <a:t>office</a:t>
            </a:r>
            <a:r>
              <a:rPr lang="ru-RU" sz="2400" dirty="0"/>
              <a:t>/</a:t>
            </a:r>
            <a:r>
              <a:rPr lang="ru-RU" sz="2400" dirty="0" err="1"/>
              <a:t>partially</a:t>
            </a:r>
            <a:r>
              <a:rPr lang="ru-RU" sz="2400" dirty="0"/>
              <a:t> </a:t>
            </a:r>
            <a:r>
              <a:rPr lang="ru-RU" sz="2400" dirty="0" err="1"/>
              <a:t>office</a:t>
            </a:r>
            <a:r>
              <a:rPr lang="ru-RU" sz="2400" dirty="0"/>
              <a:t> </a:t>
            </a:r>
            <a:r>
              <a:rPr lang="ru-RU" sz="2400" dirty="0" err="1"/>
              <a:t>positions</a:t>
            </a:r>
            <a:r>
              <a:rPr lang="ru-RU" sz="2400" dirty="0"/>
              <a:t> ?</a:t>
            </a:r>
          </a:p>
          <a:p>
            <a:endParaRPr lang="ru-RU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B2A9960-D7B4-8693-1084-55D37FF5A3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5298293" cy="373295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2440992-BC59-EC30-EB5E-AA67848847BC}"/>
              </a:ext>
            </a:extLst>
          </p:cNvPr>
          <p:cNvSpPr txBox="1"/>
          <p:nvPr/>
        </p:nvSpPr>
        <p:spPr>
          <a:xfrm>
            <a:off x="1749313" y="5271171"/>
            <a:ext cx="347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Рисунок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6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 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Questions </a:t>
            </a:r>
            <a:r>
              <a:rPr lang="ru-RU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(источник: unDraw).</a:t>
            </a:r>
          </a:p>
        </p:txBody>
      </p:sp>
    </p:spTree>
    <p:extLst>
      <p:ext uri="{BB962C8B-B14F-4D97-AF65-F5344CB8AC3E}">
        <p14:creationId xmlns:p14="http://schemas.microsoft.com/office/powerpoint/2010/main" val="926244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0D019-DF5D-FE77-908B-6B425EFCD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Ссылки на источники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37D67-1AEE-44BD-42A0-2D3EC9B15E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ru-RU" dirty="0"/>
              <a:t>unDraw. (n.d.). </a:t>
            </a:r>
            <a:r>
              <a:rPr lang="en-US" i="1" dirty="0"/>
              <a:t>Goals</a:t>
            </a:r>
            <a:r>
              <a:rPr lang="en-US" dirty="0"/>
              <a:t> </a:t>
            </a:r>
            <a:r>
              <a:rPr lang="ru-RU" dirty="0"/>
              <a:t>[Иллюстрация].</a:t>
            </a:r>
            <a:r>
              <a:rPr lang="en-US" dirty="0"/>
              <a:t> </a:t>
            </a:r>
            <a:r>
              <a:rPr lang="en-US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https://undraw.co/search/goals</a:t>
            </a:r>
            <a:endParaRPr lang="en-US" dirty="0"/>
          </a:p>
          <a:p>
            <a:pPr marL="0" indent="0">
              <a:buNone/>
            </a:pPr>
            <a:r>
              <a:rPr lang="ru-RU" dirty="0"/>
              <a:t>unDraw. (n.d.). </a:t>
            </a:r>
            <a:r>
              <a:rPr lang="en-US" i="1" dirty="0"/>
              <a:t>Process</a:t>
            </a:r>
            <a:r>
              <a:rPr lang="en-US" dirty="0"/>
              <a:t> </a:t>
            </a:r>
            <a:r>
              <a:rPr lang="ru-RU" dirty="0"/>
              <a:t>[Иллюстрация]. </a:t>
            </a:r>
            <a:r>
              <a:rPr lang="en-US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https://undraw.co/search/questions</a:t>
            </a:r>
            <a:endParaRPr lang="en-US" dirty="0"/>
          </a:p>
          <a:p>
            <a:pPr marL="0" indent="0">
              <a:buNone/>
            </a:pPr>
            <a:r>
              <a:rPr lang="ru-RU" dirty="0"/>
              <a:t>unDraw. (n.d.). </a:t>
            </a:r>
            <a:r>
              <a:rPr lang="en-US" i="1" dirty="0"/>
              <a:t>Questions</a:t>
            </a:r>
            <a:r>
              <a:rPr lang="en-US" dirty="0"/>
              <a:t> </a:t>
            </a:r>
            <a:r>
              <a:rPr lang="ru-RU" dirty="0"/>
              <a:t>[Иллюстрация].</a:t>
            </a:r>
            <a:r>
              <a:rPr lang="en-US" dirty="0"/>
              <a:t> </a:t>
            </a:r>
            <a:r>
              <a:rPr lang="en-US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https://undraw.co/search/questions</a:t>
            </a:r>
            <a:endParaRPr lang="en-US" dirty="0"/>
          </a:p>
          <a:p>
            <a:pPr marL="0" indent="0">
              <a:buNone/>
            </a:pPr>
            <a:r>
              <a:rPr lang="ru-RU" dirty="0"/>
              <a:t>unDraw. (n.d.). </a:t>
            </a:r>
            <a:r>
              <a:rPr lang="en-US" i="1" dirty="0"/>
              <a:t>Visual</a:t>
            </a:r>
            <a:r>
              <a:rPr lang="en-US" dirty="0"/>
              <a:t> </a:t>
            </a:r>
            <a:r>
              <a:rPr lang="en-US" i="1" dirty="0"/>
              <a:t>Data</a:t>
            </a:r>
            <a:r>
              <a:rPr lang="en-US" dirty="0"/>
              <a:t> </a:t>
            </a:r>
            <a:r>
              <a:rPr lang="ru-RU" dirty="0"/>
              <a:t>[Иллюстрация].</a:t>
            </a:r>
            <a:r>
              <a:rPr lang="en-US" dirty="0"/>
              <a:t> </a:t>
            </a:r>
            <a:r>
              <a:rPr lang="en-US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https://undraw.co/search/visual-data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ru-RU" dirty="0"/>
              <a:t>Авторские материалы: </a:t>
            </a:r>
          </a:p>
          <a:p>
            <a:pPr marL="0" indent="0">
              <a:buNone/>
            </a:pPr>
            <a:r>
              <a:rPr lang="en-US" i="1" dirty="0"/>
              <a:t>Mobile</a:t>
            </a:r>
            <a:r>
              <a:rPr lang="en-US" dirty="0"/>
              <a:t> </a:t>
            </a:r>
            <a:r>
              <a:rPr lang="en-US" i="1" dirty="0"/>
              <a:t>Development</a:t>
            </a:r>
            <a:r>
              <a:rPr lang="en-US" dirty="0"/>
              <a:t> </a:t>
            </a:r>
            <a:r>
              <a:rPr lang="en-US" i="1" dirty="0"/>
              <a:t>Stack</a:t>
            </a:r>
            <a:r>
              <a:rPr lang="en-US" dirty="0"/>
              <a:t> </a:t>
            </a:r>
            <a:r>
              <a:rPr lang="en-US" i="1" dirty="0"/>
              <a:t>Dashboard</a:t>
            </a:r>
            <a:r>
              <a:rPr lang="en-US" dirty="0"/>
              <a:t> [</a:t>
            </a:r>
            <a:r>
              <a:rPr lang="en-US" dirty="0" err="1"/>
              <a:t>Дашборд</a:t>
            </a:r>
            <a:r>
              <a:rPr lang="en-US" dirty="0"/>
              <a:t> Tableau]. </a:t>
            </a:r>
            <a:r>
              <a:rPr lang="en-US" u="sng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https://public.tableau.com/app/profile/ivan.ireev/viz/mobile_development_stack_dashboard/Dashboard1</a:t>
            </a:r>
            <a:endParaRPr lang="en-US" u="sng" dirty="0"/>
          </a:p>
          <a:p>
            <a:pPr marL="0" indent="0">
              <a:buNone/>
            </a:pPr>
            <a:r>
              <a:rPr lang="ru-RU" i="1" dirty="0"/>
              <a:t>Методология</a:t>
            </a:r>
            <a:r>
              <a:rPr lang="en-US" dirty="0"/>
              <a:t> [</a:t>
            </a:r>
            <a:r>
              <a:rPr lang="ru-RU" dirty="0"/>
              <a:t>Схема </a:t>
            </a:r>
            <a:r>
              <a:rPr lang="en-US" dirty="0"/>
              <a:t>Miro]. </a:t>
            </a:r>
            <a:r>
              <a:rPr lang="en-US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https://miro.com/app/board/uXjVJjGG9q4=/?share_link_id=748928656338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7883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1218</TotalTime>
  <Words>587</Words>
  <Application>Microsoft Office PowerPoint</Application>
  <PresentationFormat>Widescreen</PresentationFormat>
  <Paragraphs>79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Office Theme</vt:lpstr>
      <vt:lpstr>PowerPoint Presentation</vt:lpstr>
      <vt:lpstr>Актуальность темы</vt:lpstr>
      <vt:lpstr>Проблема и цель исследования</vt:lpstr>
      <vt:lpstr>Методология</vt:lpstr>
      <vt:lpstr>Результаты 1</vt:lpstr>
      <vt:lpstr>Результаты 2</vt:lpstr>
      <vt:lpstr>Выводы и рекомендации</vt:lpstr>
      <vt:lpstr>Спасибо за внимание</vt:lpstr>
      <vt:lpstr>Ответы рецензенту</vt:lpstr>
      <vt:lpstr>Ссылки на источники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Ivan Ireev</dc:creator>
  <cp:lastModifiedBy>Ivan Ireev</cp:lastModifiedBy>
  <cp:revision>32</cp:revision>
  <dcterms:created xsi:type="dcterms:W3CDTF">2025-11-24T11:42:56Z</dcterms:created>
  <dcterms:modified xsi:type="dcterms:W3CDTF">2025-12-02T14:35:46Z</dcterms:modified>
</cp:coreProperties>
</file>