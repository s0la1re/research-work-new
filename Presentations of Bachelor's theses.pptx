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9" r:id="rId3"/>
    <p:sldId id="257" r:id="rId4"/>
    <p:sldId id="260" r:id="rId5"/>
    <p:sldId id="261" r:id="rId6"/>
    <p:sldId id="262" r:id="rId7"/>
    <p:sldId id="264" r:id="rId8"/>
    <p:sldId id="263" r:id="rId9"/>
    <p:sldId id="266" r:id="rId10"/>
    <p:sldId id="265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9AB7F-6C55-D967-DC1A-B75D1ACF92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6C6172-8016-A124-C9AB-DF3E433B0D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9E2802-CF2F-693C-0935-D39A94C5E0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28.11.2025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BFAEDC-218F-1BC1-0A27-011CF5A913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02897F-BBB1-D4C9-D06B-B1E193CA2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923175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F54B8F-26A7-4DAF-868B-DD6643120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101986-FCDA-9A24-9959-44D3657FE6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75E670-C0D6-4A06-3A66-817C195C3E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28.11.2025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3F79FB-F429-DFA1-5315-1B77449AE7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08AF11-6751-9359-4651-368006CFC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38017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56E5B-11AC-2703-36BD-B0B09C82C2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6684EA-3A00-B504-ADE0-1596F886A0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118F22-4A36-E64F-B16C-386940E08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28.11.2025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4734B8-E673-1058-0BBF-3B1D2014E6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79B405-3665-D5C3-AC2C-A78B04521A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22422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17C716-843D-EC17-8F39-7AC76E866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41F773-E22A-F586-FF70-2F88438EE8A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5E3612-8670-71DE-BB7F-877789F429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28A62B-D830-B276-7FF6-E081E7AC29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28.11.2025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F22761-30A7-2582-6C64-F1CC3FDC98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C48ED1-DB05-5AA0-2408-4FE51477A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581338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A6EF18-4F53-6F28-7C7E-48806964B9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1B020F-BEB6-6785-9AF0-7C6001AE8F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C43301-6B9B-23D2-02C9-EE4867F584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C580B68-8D11-D725-0804-276602CBFF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BFADE8-9666-624E-4290-B36744F1DDA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0B03219-80E9-48C7-CEF7-89A12DCBE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28.11.2025</a:t>
            </a:fld>
            <a:endParaRPr lang="ru-R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F469A74-E783-5762-B3F4-8C410AB61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6DA13D6-E4A1-4128-E6E5-A13E96BEA1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277696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B943D2-627B-C12C-5DC4-9A1D54DB88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2574F7-2DB0-D3F6-58B4-3F6630317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28.11.2025</a:t>
            </a:fld>
            <a:endParaRPr lang="ru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5E5186-C98D-9C83-FD44-9ABBC1986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ED7701-8B88-7569-E5EB-1C874A156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48662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2E16C6-7FCE-DDE0-5196-BA93FF8F7C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28.11.2025</a:t>
            </a:fld>
            <a:endParaRPr lang="ru-R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60DE8C-D975-4893-3089-DACA9E1968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B71B5E-91B7-13DE-EB54-9FE6AB8F5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45810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715E5D-68EB-51F4-DA6A-352DAD0ED7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4E4-DEA6-3B35-67A2-68D83D7E29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CAE248-8658-35C2-61DF-0EF632A621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A46ACA-F851-66B1-7D25-2DCCC8720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28.11.2025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007F07-4539-9800-D98E-1A266069E1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8EEF3E-320D-165F-F1CE-85865E4B85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009154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C17896-4B2E-2598-9A66-F13A052C60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D16BE5E-AB46-99FA-1D82-806571ADB1F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AF73EE-A4BD-934B-2187-F7B5AFC7C6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2AE5B2-E1ED-A137-8CEB-C75CE944A9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28.11.2025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4D7AD0-2590-8AA7-C6E2-FE441532EE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E3CF70-96EE-998B-F4D5-25FB12A176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98248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FCF6BF-AA73-D9EE-DCCC-0BD13C3602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1A178A9-ED4B-B70F-F6EC-2B54108AA9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941D36-7326-472E-D5F6-8A4653F2D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28.11.2025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1B3079-A198-BB60-A2EA-89546365B3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8CB32F-324E-65F7-A951-E459AD639E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21229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DC5634B-7D23-2A62-1000-2ECAD157CA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3F1891-B769-C5AA-9047-86768A9636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96F6D9-B25B-8EBE-BA00-09348D119B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28.11.2025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F20ACB-A53B-8CAE-AE13-E45392B841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3F816-D18F-7746-760E-72CFEE6F9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66524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9C4541E-8813-CFB4-4BFA-6FEBF0EBF0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2C95F5-93CB-D7B3-330C-B6CC8BAAA1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34657B-4E8C-D388-4148-4F099A8699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846F43-F1B2-4AEE-B1BF-466D06853D46}" type="datetimeFigureOut">
              <a:rPr lang="ru-RU" smtClean="0"/>
              <a:t>28.11.2025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0EF71B-99B2-0357-D355-D56C9C680E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47C4B4-1C6B-A8F8-1D4B-FDEDA75E87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612444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miro.com/app/board/uXjVJjGG9q4=/?share_link_id=249989053224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E7EFDF-DC20-8D2D-43F4-20BD34DD77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0"/>
            <a:ext cx="10515600" cy="685800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lang="en-US" sz="1000" dirty="0"/>
          </a:p>
          <a:p>
            <a:pPr marL="0" indent="0" algn="ctr"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ЭСТОНСКИЙ УНИВЕРСИТЕТ ПРЕДПРИНИМАТЕЛЬСТВА МАЙНОР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Учебная программа: Веб-дизайн и цифровая графика 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Специализация: Веб-технологии 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Ivan Ireev 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частоты упоминаний технологий в вакансиях разработчиков iOS и Android в Европе и Северной Америке</a:t>
            </a:r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Заключительная работа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r"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Руководитель: Boris Shvartsman, PhD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Таллинн 2025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4223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C90D3B-326F-B5AE-C6AE-B3F0309BE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Актуальность темы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7DF751-7727-0AD9-CEF0-7EAA3A8A70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Рынок мобильных приложений стремительно растёт по пользователям, загрузкам и выручке.</a:t>
            </a:r>
          </a:p>
          <a:p>
            <a:r>
              <a:rPr lang="ru-RU" dirty="0"/>
              <a:t>Генеративный ИИ усилил спрос на мобильных разработчиков и расширил круг их задач.</a:t>
            </a:r>
          </a:p>
          <a:p>
            <a:r>
              <a:rPr lang="ru-RU" dirty="0"/>
              <a:t>Европа и Северная Америка — одни из самых прибыльных рынков с высокой концентрацией разработчиков и растущей конкуренцией за позиции.</a:t>
            </a:r>
          </a:p>
          <a:p>
            <a:r>
              <a:rPr lang="ru-RU" dirty="0"/>
              <a:t>Быстрая смена технологий (iOS/Android, языки, фреймворки) усложняет выбор актуальных инструментов и обновление учебных программ.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10566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06007-9913-3FAF-832F-E2371C880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 и цель исследования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8DEFB0-257B-FF2F-231E-61F40C3D48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Проблема: сложность определения наиболее востребованных навыков и инструментов мобильных разработчиков при быстром обновлении технологий.</a:t>
            </a:r>
          </a:p>
          <a:p>
            <a:r>
              <a:rPr lang="ru-RU" dirty="0"/>
              <a:t>Цель: выявить наиболее часто упоминаемые в вакансиях технологии для iOS- и Android-разработчиков, сравнить требования в Европе и Северной Америке и составить рекомендации по изучению для специалистов и учебных программ.</a:t>
            </a:r>
          </a:p>
        </p:txBody>
      </p:sp>
    </p:spTree>
    <p:extLst>
      <p:ext uri="{BB962C8B-B14F-4D97-AF65-F5344CB8AC3E}">
        <p14:creationId xmlns:p14="http://schemas.microsoft.com/office/powerpoint/2010/main" val="30487531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0B972-DCD3-164E-D66C-C0A738DBF3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Методология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30A9BD-B04E-9736-B80F-CBF99CC2CA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15" name="Picture 14">
            <a:hlinkClick r:id="rId2"/>
            <a:extLst>
              <a:ext uri="{FF2B5EF4-FFF2-40B4-BE49-F238E27FC236}">
                <a16:creationId xmlns:a16="http://schemas.microsoft.com/office/drawing/2014/main" id="{1F9D9668-B71C-9AB0-C9A2-7D8D67A92D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781" y="1395843"/>
            <a:ext cx="11012437" cy="5210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56168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4E5DE-E810-9EC3-D073-6D9687D6AE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Результаты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CD2DE2-A1B2-06B3-C893-46EE72DEB4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0BC2A8C-BF4C-5040-D761-F7FE93E014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25625"/>
            <a:ext cx="7004175" cy="4020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56341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499884-ED48-50C9-4165-051E6C2BED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Результаты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3F2D2F-3CBB-3B06-7E11-EE56A7B515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В целом по обеим платформам повторяется общий каркас стека:</a:t>
            </a:r>
          </a:p>
          <a:p>
            <a:pPr lvl="1"/>
            <a:r>
              <a:rPr lang="ru-RU" dirty="0"/>
              <a:t> язык платформы </a:t>
            </a:r>
          </a:p>
          <a:p>
            <a:pPr lvl="1"/>
            <a:r>
              <a:rPr lang="ru-RU" dirty="0"/>
              <a:t>система контроля версий </a:t>
            </a:r>
          </a:p>
          <a:p>
            <a:pPr lvl="1"/>
            <a:r>
              <a:rPr lang="ru-RU" dirty="0"/>
              <a:t>IDE</a:t>
            </a:r>
            <a:r>
              <a:rPr lang="en-US" dirty="0"/>
              <a:t>…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552502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C27215-C1F7-3B59-3396-2A6F8AD576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Обсуждение + выводы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25D273-41BD-973A-6857-8ECB6919C8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Ключевые результаты: главные требования стабильны как для iOS-, так и для Android-разработчиков, а межрегиональные различия касаются редких/специфичных технологий.</a:t>
            </a:r>
            <a:endParaRPr lang="en-US" dirty="0"/>
          </a:p>
          <a:p>
            <a:endParaRPr lang="ru-RU" dirty="0"/>
          </a:p>
          <a:p>
            <a:r>
              <a:rPr lang="ru-RU" dirty="0"/>
              <a:t>Результаты исследования согласуются с литературой/прошлыми исследованиями. </a:t>
            </a:r>
            <a:endParaRPr lang="en-US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268843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F64BA4-0D1D-0885-752D-4A3101ED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Рекомендации?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CE1CD7-22EA-5A23-350B-EF2A5E77A4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Формат основа/дополнение, где учтены как основной так и второстепенный стек. Например, у </a:t>
            </a:r>
            <a:r>
              <a:rPr lang="en-US" dirty="0"/>
              <a:t>Android </a:t>
            </a:r>
            <a:r>
              <a:rPr lang="ru-RU" dirty="0"/>
              <a:t>есть 2 основных языка: </a:t>
            </a:r>
            <a:r>
              <a:rPr lang="en-US" dirty="0"/>
              <a:t>Kotlin (</a:t>
            </a:r>
            <a:r>
              <a:rPr lang="ru-RU" dirty="0"/>
              <a:t>более новый и всё более популярный</a:t>
            </a:r>
            <a:r>
              <a:rPr lang="en-US" dirty="0"/>
              <a:t>)</a:t>
            </a:r>
            <a:r>
              <a:rPr lang="ru-RU" dirty="0"/>
              <a:t> и </a:t>
            </a:r>
            <a:r>
              <a:rPr lang="en-US" dirty="0"/>
              <a:t>Java (</a:t>
            </a:r>
            <a:r>
              <a:rPr lang="ru-RU" dirty="0"/>
              <a:t>легаси</a:t>
            </a:r>
            <a:r>
              <a:rPr lang="en-US" dirty="0"/>
              <a:t>)</a:t>
            </a:r>
            <a:r>
              <a:rPr lang="ru-RU" dirty="0"/>
              <a:t>. Бывает такое, что технология актуальна как для обоих языков (</a:t>
            </a:r>
            <a:r>
              <a:rPr lang="en-US" dirty="0"/>
              <a:t>Git</a:t>
            </a:r>
            <a:r>
              <a:rPr lang="ru-RU" dirty="0"/>
              <a:t>), так и только для одного</a:t>
            </a:r>
            <a:r>
              <a:rPr lang="en-US" dirty="0"/>
              <a:t> (</a:t>
            </a:r>
            <a:r>
              <a:rPr lang="ru-RU" dirty="0"/>
              <a:t>только </a:t>
            </a:r>
            <a:r>
              <a:rPr lang="en-US" dirty="0"/>
              <a:t>Kotlin </a:t>
            </a:r>
            <a:r>
              <a:rPr lang="ru-RU" dirty="0"/>
              <a:t>или </a:t>
            </a:r>
            <a:r>
              <a:rPr lang="en-US" dirty="0"/>
              <a:t>Java)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В рекомендации этот момент учтён. </a:t>
            </a:r>
          </a:p>
          <a:p>
            <a:r>
              <a:rPr lang="ru-RU" dirty="0"/>
              <a:t>5.3.1. Рекомендации для специалистов </a:t>
            </a:r>
            <a:r>
              <a:rPr lang="en-US" dirty="0"/>
              <a:t>Android </a:t>
            </a:r>
            <a:r>
              <a:rPr lang="ru-RU" dirty="0"/>
              <a:t>Основа • язык платформы – </a:t>
            </a:r>
            <a:r>
              <a:rPr lang="en-US" dirty="0"/>
              <a:t>Kotlin (79,59 %), Java (58,92 %); • </a:t>
            </a:r>
            <a:r>
              <a:rPr lang="ru-RU" dirty="0"/>
              <a:t>система контроля версий – </a:t>
            </a:r>
            <a:r>
              <a:rPr lang="en-US" dirty="0"/>
              <a:t>Git (33,21 %); • IDE – Android Studio (19,91 %); • </a:t>
            </a:r>
            <a:r>
              <a:rPr lang="ru-RU" dirty="0"/>
              <a:t>сетевое взаимодействие (</a:t>
            </a:r>
            <a:r>
              <a:rPr lang="en-US" dirty="0"/>
              <a:t>API) – RES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160992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7D6EE1-6D2F-9E32-9EC1-EE212D09B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Спасибо за внимание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AE1704-D6E6-F256-8CE9-6988DC10C7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314441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DC19C-5148-0A92-9163-5C2674A8D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Вопросы рецензента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04D05D-778F-BAF8-E587-998E7445A8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26244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774</TotalTime>
  <Words>338</Words>
  <Application>Microsoft Office PowerPoint</Application>
  <PresentationFormat>Widescreen</PresentationFormat>
  <Paragraphs>42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Times New Roman</vt:lpstr>
      <vt:lpstr>Office Theme</vt:lpstr>
      <vt:lpstr>PowerPoint Presentation</vt:lpstr>
      <vt:lpstr>Актуальность темы</vt:lpstr>
      <vt:lpstr>Проблема и цель исследования</vt:lpstr>
      <vt:lpstr>Методология</vt:lpstr>
      <vt:lpstr>Результаты</vt:lpstr>
      <vt:lpstr>Результаты</vt:lpstr>
      <vt:lpstr>Обсуждение + выводы</vt:lpstr>
      <vt:lpstr>Рекомендации?</vt:lpstr>
      <vt:lpstr>Спасибо за внимание</vt:lpstr>
      <vt:lpstr>Вопросы рецензента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Ivan Ireev</dc:creator>
  <cp:lastModifiedBy>Ivan Ireev</cp:lastModifiedBy>
  <cp:revision>20</cp:revision>
  <dcterms:created xsi:type="dcterms:W3CDTF">2025-11-24T11:42:56Z</dcterms:created>
  <dcterms:modified xsi:type="dcterms:W3CDTF">2025-11-28T15:28:23Z</dcterms:modified>
</cp:coreProperties>
</file>