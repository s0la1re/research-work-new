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59" r:id="rId3"/>
    <p:sldId id="257" r:id="rId4"/>
    <p:sldId id="260" r:id="rId5"/>
    <p:sldId id="267" r:id="rId6"/>
    <p:sldId id="262" r:id="rId7"/>
    <p:sldId id="264" r:id="rId8"/>
    <p:sldId id="266" r:id="rId9"/>
    <p:sldId id="265" r:id="rId10"/>
    <p:sldId id="26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79A6A-4B5B-4880-8428-24B39EC00E81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2A60B0-D09F-4AED-B56C-5322874739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686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690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5080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iro.com/app/board/uXjVJjGG9q4=/?share_link_id=618929862910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ublic.tableau.com/app/profile/ivan.ireev/viz/mobile_development_stack_dashboard/Dashboard1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ndraw.co/search/goals" TargetMode="External"/><Relationship Id="rId2" Type="http://schemas.openxmlformats.org/officeDocument/2006/relationships/hyperlink" Target="https://undraw.co/search/question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iro.com/app/board/uXjVJjGG9q4=/?share_link_id=748928656338" TargetMode="External"/><Relationship Id="rId5" Type="http://schemas.openxmlformats.org/officeDocument/2006/relationships/hyperlink" Target="https://public.tableau.com/app/profile/ivan.ireev/viz/mobile_development_stack_dashboard/Dashboard1" TargetMode="External"/><Relationship Id="rId4" Type="http://schemas.openxmlformats.org/officeDocument/2006/relationships/hyperlink" Target="https://undraw.co/search/visual-dat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Ivan Ireev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Таллинн 2025</a:t>
            </a:r>
            <a:endParaRPr lang="en-US" sz="20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788" y="1825625"/>
            <a:ext cx="6728011" cy="4351338"/>
          </a:xfrm>
        </p:spPr>
        <p:txBody>
          <a:bodyPr/>
          <a:lstStyle/>
          <a:p>
            <a:r>
              <a:rPr lang="ru-RU" sz="2400" dirty="0"/>
              <a:t>Рынок мобильных приложений стремительно растёт по пользователям, загрузкам и выручке.</a:t>
            </a:r>
          </a:p>
          <a:p>
            <a:r>
              <a:rPr lang="ru-RU" sz="2400" dirty="0"/>
              <a:t>Генеративный ИИ усилил спрос на мобильных разработчиков и расширил круг их задач.</a:t>
            </a:r>
          </a:p>
          <a:p>
            <a:r>
              <a:rPr lang="ru-RU" sz="2400" dirty="0"/>
              <a:t>Европа и Северная Америка — одни из самых прибыльных рынков с высокой концентрацией разработчиков и растущей конкуренцией за позиции.</a:t>
            </a:r>
          </a:p>
          <a:p>
            <a:r>
              <a:rPr lang="ru-RU" sz="2400" dirty="0"/>
              <a:t>Быстрая смена технологий (iOS/Android, языки, фреймворки) усложняет выбор актуальных инструментов и обновление учебных программ.</a:t>
            </a:r>
          </a:p>
          <a:p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C165A-3D18-560E-FBED-71F64A0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38" y="1604682"/>
            <a:ext cx="3968396" cy="4156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8626AC-C231-9A5E-2FDC-432EF8534FD7}"/>
              </a:ext>
            </a:extLst>
          </p:cNvPr>
          <p:cNvSpPr txBox="1"/>
          <p:nvPr/>
        </p:nvSpPr>
        <p:spPr>
          <a:xfrm>
            <a:off x="1069041" y="5534262"/>
            <a:ext cx="3173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1. Process 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 цель исследования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6375" y="1825625"/>
            <a:ext cx="560742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Проблема: сложность определения наиболее востребованных навыков и инструментов мобильных разработчиков при быстром обновлении технологий.</a:t>
            </a:r>
          </a:p>
          <a:p>
            <a:r>
              <a:rPr lang="ru-RU" sz="2400" dirty="0"/>
              <a:t>Цель: выявить наиболее часто упоминаемые в вакансиях технологии для iOS- и Android-разработчиков, сравнить требования в Европе и Северной Америке и составить рекомендации по изучению для специалистов и учебных программ.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DA91E0-464F-D5EF-661C-26E97579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1" y="1690688"/>
            <a:ext cx="4925784" cy="41094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B9B0D2-6C6A-BF71-9781-EDD0607715F9}"/>
              </a:ext>
            </a:extLst>
          </p:cNvPr>
          <p:cNvSpPr txBox="1"/>
          <p:nvPr/>
        </p:nvSpPr>
        <p:spPr>
          <a:xfrm>
            <a:off x="1620371" y="5646276"/>
            <a:ext cx="3173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Goals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0B972-DCD3-164E-D66C-C0A738DB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</a:t>
            </a:r>
          </a:p>
        </p:txBody>
      </p:sp>
      <p:pic>
        <p:nvPicPr>
          <p:cNvPr id="5" name="Content Placeholder 4">
            <a:hlinkClick r:id="rId2"/>
            <a:extLst>
              <a:ext uri="{FF2B5EF4-FFF2-40B4-BE49-F238E27FC236}">
                <a16:creationId xmlns:a16="http://schemas.microsoft.com/office/drawing/2014/main" id="{2F79D6BF-CD45-073D-C09B-B570076797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74067" y="1416680"/>
            <a:ext cx="11043866" cy="5196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6DC912-9FF6-0A1B-44A6-F466EC26ED1D}"/>
              </a:ext>
            </a:extLst>
          </p:cNvPr>
          <p:cNvSpPr txBox="1"/>
          <p:nvPr/>
        </p:nvSpPr>
        <p:spPr>
          <a:xfrm>
            <a:off x="574067" y="6459106"/>
            <a:ext cx="510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Методология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1705616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9A2DA-DD70-C3C0-8B68-81D50155B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9CA8-3DFA-836C-509E-9569BCC22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682" y="1825625"/>
            <a:ext cx="547239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2 178 релевантных вакансий iOS/Android (Европа + Северная Америка).</a:t>
            </a:r>
          </a:p>
          <a:p>
            <a:r>
              <a:rPr lang="pt-BR" sz="2400" dirty="0"/>
              <a:t>4 группы: EU+Android, EU+iOS, NA+Android, NA+iOS</a:t>
            </a:r>
            <a:r>
              <a:rPr lang="ru-RU" sz="2400" dirty="0"/>
              <a:t>.</a:t>
            </a:r>
            <a:r>
              <a:rPr lang="pt-BR" sz="2400" dirty="0"/>
              <a:t> </a:t>
            </a:r>
            <a:endParaRPr lang="ru-RU" sz="2400" dirty="0"/>
          </a:p>
          <a:p>
            <a:r>
              <a:rPr lang="ru-RU" sz="2400" dirty="0"/>
              <a:t>213 технологий, сгруппированных в 28 категорий.</a:t>
            </a:r>
          </a:p>
          <a:p>
            <a:r>
              <a:rPr lang="ru-RU" sz="2400" dirty="0"/>
              <a:t>Результаты: таблицы + интерактивный дашборд Tableau с фильтрами.</a:t>
            </a:r>
          </a:p>
        </p:txBody>
      </p:sp>
      <p:pic>
        <p:nvPicPr>
          <p:cNvPr id="4" name="Content Placeholder 6">
            <a:hlinkClick r:id="rId2"/>
            <a:extLst>
              <a:ext uri="{FF2B5EF4-FFF2-40B4-BE49-F238E27FC236}">
                <a16:creationId xmlns:a16="http://schemas.microsoft.com/office/drawing/2014/main" id="{B1BDA3B3-3580-B25A-BDAB-1251FE8D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85" y="1825625"/>
            <a:ext cx="5182334" cy="29749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004905-1524-51BD-B0CF-F15EF156D722}"/>
              </a:ext>
            </a:extLst>
          </p:cNvPr>
          <p:cNvSpPr txBox="1"/>
          <p:nvPr/>
        </p:nvSpPr>
        <p:spPr>
          <a:xfrm>
            <a:off x="918894" y="4935537"/>
            <a:ext cx="5010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Дашборд в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Tableau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4006114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884-ED48-50C9-4165-051E6C2B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  <a:r>
              <a:rPr lang="en-US" dirty="0"/>
              <a:t> </a:t>
            </a:r>
            <a:r>
              <a:rPr lang="ru-RU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F2D2F-3CBB-3B06-7E11-EE56A7B515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476499"/>
            <a:ext cx="5181600" cy="3895726"/>
          </a:xfrm>
        </p:spPr>
        <p:txBody>
          <a:bodyPr>
            <a:noAutofit/>
          </a:bodyPr>
          <a:lstStyle/>
          <a:p>
            <a:pPr lvl="1"/>
            <a:r>
              <a:rPr lang="ru-RU" dirty="0"/>
              <a:t>язык платформы  </a:t>
            </a:r>
          </a:p>
          <a:p>
            <a:pPr lvl="1"/>
            <a:r>
              <a:rPr lang="ru-RU" dirty="0"/>
              <a:t>система контроля версий  </a:t>
            </a:r>
          </a:p>
          <a:p>
            <a:pPr lvl="1"/>
            <a:r>
              <a:rPr lang="ru-RU" dirty="0"/>
              <a:t>IDE  </a:t>
            </a:r>
          </a:p>
          <a:p>
            <a:pPr lvl="1"/>
            <a:r>
              <a:rPr lang="ru-RU" dirty="0"/>
              <a:t>сетевое взаимодействие (API)  </a:t>
            </a:r>
          </a:p>
          <a:p>
            <a:pPr lvl="1"/>
            <a:r>
              <a:rPr lang="ru-RU" dirty="0"/>
              <a:t>методологии разработки и PM-инструменты  </a:t>
            </a:r>
          </a:p>
          <a:p>
            <a:pPr lvl="1"/>
            <a:r>
              <a:rPr lang="ru-RU" dirty="0"/>
              <a:t>UI-фреймворки  </a:t>
            </a:r>
          </a:p>
          <a:p>
            <a:pPr lvl="1"/>
            <a:r>
              <a:rPr lang="ru-RU" dirty="0"/>
              <a:t>хранение данных  </a:t>
            </a:r>
          </a:p>
          <a:p>
            <a:pPr lvl="1"/>
            <a:r>
              <a:rPr lang="ru-RU" dirty="0"/>
              <a:t>платформенный SDK/базовые компоненты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1DAA2-5DBA-15DA-A878-4F9733F84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76499"/>
            <a:ext cx="5266765" cy="3895726"/>
          </a:xfrm>
        </p:spPr>
        <p:txBody>
          <a:bodyPr>
            <a:normAutofit fontScale="92500"/>
          </a:bodyPr>
          <a:lstStyle/>
          <a:p>
            <a:pPr lvl="1"/>
            <a:r>
              <a:rPr lang="ru-RU" sz="2600" dirty="0"/>
              <a:t>архитектура и DI </a:t>
            </a:r>
          </a:p>
          <a:p>
            <a:pPr lvl="1"/>
            <a:r>
              <a:rPr lang="ru-RU" sz="2600" dirty="0"/>
              <a:t>каналы публикации  </a:t>
            </a:r>
          </a:p>
          <a:p>
            <a:pPr lvl="1"/>
            <a:r>
              <a:rPr lang="ru-RU" sz="2600" dirty="0"/>
              <a:t>асинхронность/реактивность  </a:t>
            </a:r>
          </a:p>
          <a:p>
            <a:pPr lvl="1"/>
            <a:r>
              <a:rPr lang="ru-RU" sz="2600" dirty="0"/>
              <a:t>сборка и управление зависимостями  </a:t>
            </a:r>
          </a:p>
          <a:p>
            <a:pPr lvl="1"/>
            <a:r>
              <a:rPr lang="ru-RU" sz="2600" dirty="0"/>
              <a:t>тестирование  </a:t>
            </a:r>
          </a:p>
          <a:p>
            <a:pPr lvl="1"/>
            <a:r>
              <a:rPr lang="ru-RU" sz="2600" dirty="0"/>
              <a:t>дополнительные языки  </a:t>
            </a:r>
          </a:p>
          <a:p>
            <a:pPr lvl="1"/>
            <a:r>
              <a:rPr lang="ru-RU" sz="2600" dirty="0"/>
              <a:t>облачные/бэкенд-сервисы (</a:t>
            </a:r>
            <a:r>
              <a:rPr lang="ru-RU" sz="2600" dirty="0" err="1"/>
              <a:t>BaaS</a:t>
            </a:r>
            <a:r>
              <a:rPr lang="ru-RU" sz="2600" dirty="0"/>
              <a:t>)  </a:t>
            </a:r>
          </a:p>
          <a:p>
            <a:pPr lvl="1"/>
            <a:r>
              <a:rPr lang="ru-RU" sz="2600" dirty="0"/>
              <a:t>CI/CD и автоматизация  </a:t>
            </a:r>
          </a:p>
          <a:p>
            <a:pPr lvl="1"/>
            <a:r>
              <a:rPr lang="ru-RU" sz="2600" dirty="0"/>
              <a:t>остальное 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9CB38-4D78-AEF3-5735-8BEACD27A66B}"/>
              </a:ext>
            </a:extLst>
          </p:cNvPr>
          <p:cNvSpPr txBox="1"/>
          <p:nvPr/>
        </p:nvSpPr>
        <p:spPr>
          <a:xfrm>
            <a:off x="838200" y="1752123"/>
            <a:ext cx="90582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По обоим платформам повторяется общий каркас стека: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250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7215-C1F7-3B59-3396-2A6F8AD5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и рекомендации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5D273-41BD-973A-6857-8ECB6919C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825625"/>
            <a:ext cx="6001871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Ключевые выводы: главные требования стабильны как для iOS-, так и для Android-разработчиков, а межрегиональные различия касаются редких/специфичных технологий.</a:t>
            </a:r>
          </a:p>
          <a:p>
            <a:r>
              <a:rPr lang="ru-RU" sz="2400" dirty="0"/>
              <a:t>Результаты исследования согласуются с литературой/прошлыми исследованиями. </a:t>
            </a:r>
          </a:p>
          <a:p>
            <a:r>
              <a:rPr lang="ru-RU" sz="2400" dirty="0"/>
              <a:t>На основе результатов составлены рекомендации по изучению в формате «Основа/Дополнение» для обеих платформ.</a:t>
            </a:r>
            <a:endParaRPr lang="en-US" sz="2400" dirty="0"/>
          </a:p>
          <a:p>
            <a:endParaRPr lang="ru-R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2FB450-5937-1F1A-26CD-687F83463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63" y="1687478"/>
            <a:ext cx="4694965" cy="39320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A2F7D2-F857-8123-1CDB-C7F9F754E351}"/>
              </a:ext>
            </a:extLst>
          </p:cNvPr>
          <p:cNvSpPr txBox="1"/>
          <p:nvPr/>
        </p:nvSpPr>
        <p:spPr>
          <a:xfrm>
            <a:off x="1190212" y="5465621"/>
            <a:ext cx="347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Visual Data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3226884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6EE1-6D2F-9E32-9EC1-EE212D09B2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C58F630-B371-2B29-97B2-5932BEE916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44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DC19C-5148-0A92-9163-5C2674A8D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Ответы рецензенту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109ADB3-8318-D911-588A-B7DA9CF4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90688"/>
            <a:ext cx="5025830" cy="4351338"/>
          </a:xfrm>
        </p:spPr>
        <p:txBody>
          <a:bodyPr/>
          <a:lstStyle/>
          <a:p>
            <a:r>
              <a:rPr lang="ru-RU" sz="2400" dirty="0"/>
              <a:t>1. “Собрать корпус вакансий (Google Jobs через SerpApi)“,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are</a:t>
            </a:r>
            <a:r>
              <a:rPr lang="ru-RU" dirty="0"/>
              <a:t> </a:t>
            </a:r>
            <a:r>
              <a:rPr lang="ru-RU" dirty="0" err="1"/>
              <a:t>here</a:t>
            </a:r>
            <a:r>
              <a:rPr lang="ru-RU" dirty="0"/>
              <a:t> </a:t>
            </a:r>
            <a:r>
              <a:rPr lang="ru-RU" dirty="0" err="1"/>
              <a:t>other</a:t>
            </a:r>
            <a:r>
              <a:rPr lang="ru-RU" dirty="0"/>
              <a:t> </a:t>
            </a:r>
            <a:r>
              <a:rPr lang="ru-RU" dirty="0" err="1"/>
              <a:t>options</a:t>
            </a:r>
            <a:r>
              <a:rPr lang="ru-RU" dirty="0"/>
              <a:t> </a:t>
            </a:r>
            <a:r>
              <a:rPr lang="ru-RU" dirty="0" err="1"/>
              <a:t>available</a:t>
            </a:r>
            <a:r>
              <a:rPr lang="ru-RU" dirty="0"/>
              <a:t> ?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how</a:t>
            </a:r>
            <a:r>
              <a:rPr lang="ru-RU" dirty="0"/>
              <a:t> </a:t>
            </a:r>
            <a:r>
              <a:rPr lang="ru-RU" dirty="0" err="1"/>
              <a:t>well</a:t>
            </a:r>
            <a:r>
              <a:rPr lang="ru-RU" dirty="0"/>
              <a:t> </a:t>
            </a:r>
            <a:r>
              <a:rPr lang="ru-RU" dirty="0" err="1"/>
              <a:t>this</a:t>
            </a:r>
            <a:r>
              <a:rPr lang="ru-RU" dirty="0"/>
              <a:t> </a:t>
            </a:r>
            <a:r>
              <a:rPr lang="ru-RU" dirty="0" err="1"/>
              <a:t>search</a:t>
            </a:r>
            <a:r>
              <a:rPr lang="ru-RU" dirty="0"/>
              <a:t> </a:t>
            </a:r>
            <a:r>
              <a:rPr lang="ru-RU" dirty="0" err="1"/>
              <a:t>cover</a:t>
            </a:r>
            <a:r>
              <a:rPr lang="ru-RU" dirty="0"/>
              <a:t> </a:t>
            </a:r>
            <a:r>
              <a:rPr lang="ru-RU" dirty="0" err="1"/>
              <a:t>real</a:t>
            </a:r>
            <a:r>
              <a:rPr lang="ru-RU" dirty="0"/>
              <a:t> </a:t>
            </a:r>
            <a:r>
              <a:rPr lang="ru-RU" dirty="0" err="1"/>
              <a:t>vacancies</a:t>
            </a:r>
            <a:r>
              <a:rPr lang="ru-RU" dirty="0"/>
              <a:t>?</a:t>
            </a:r>
          </a:p>
          <a:p>
            <a:r>
              <a:rPr lang="ru-RU" sz="2400" dirty="0"/>
              <a:t>2. </a:t>
            </a:r>
            <a:r>
              <a:rPr lang="ru-RU" sz="2400" dirty="0" err="1"/>
              <a:t>Proceeding</a:t>
            </a:r>
            <a:r>
              <a:rPr lang="ru-RU" sz="2400" dirty="0"/>
              <a:t> from </a:t>
            </a:r>
            <a:r>
              <a:rPr lang="ru-RU" sz="2400" dirty="0" err="1"/>
              <a:t>jobs</a:t>
            </a:r>
            <a:r>
              <a:rPr lang="ru-RU" sz="2400" dirty="0"/>
              <a:t> </a:t>
            </a:r>
            <a:r>
              <a:rPr lang="ru-RU" sz="2400" dirty="0" err="1"/>
              <a:t>found</a:t>
            </a:r>
            <a:r>
              <a:rPr lang="ru-RU" sz="2400" dirty="0"/>
              <a:t>, </a:t>
            </a:r>
            <a:r>
              <a:rPr lang="ru-RU" sz="2400" dirty="0" err="1"/>
              <a:t>is</a:t>
            </a:r>
            <a:r>
              <a:rPr lang="ru-RU" sz="2400" dirty="0"/>
              <a:t> </a:t>
            </a:r>
            <a:r>
              <a:rPr lang="ru-RU" sz="2400" dirty="0" err="1"/>
              <a:t>here</a:t>
            </a:r>
            <a:r>
              <a:rPr lang="ru-RU" sz="2400" dirty="0"/>
              <a:t> </a:t>
            </a:r>
            <a:r>
              <a:rPr lang="ru-RU" sz="2400" dirty="0" err="1"/>
              <a:t>possible</a:t>
            </a:r>
            <a:r>
              <a:rPr lang="ru-RU" sz="2400" dirty="0"/>
              <a:t> </a:t>
            </a:r>
            <a:r>
              <a:rPr lang="ru-RU" sz="2400" dirty="0" err="1"/>
              <a:t>do</a:t>
            </a:r>
            <a:r>
              <a:rPr lang="ru-RU" sz="2400" dirty="0"/>
              <a:t> </a:t>
            </a:r>
            <a:r>
              <a:rPr lang="ru-RU" sz="2400" dirty="0" err="1"/>
              <a:t>distinguish</a:t>
            </a:r>
            <a:r>
              <a:rPr lang="ru-RU" sz="2400" dirty="0"/>
              <a:t> </a:t>
            </a:r>
            <a:r>
              <a:rPr lang="ru-RU" sz="2400" dirty="0" err="1"/>
              <a:t>online</a:t>
            </a:r>
            <a:r>
              <a:rPr lang="ru-RU" sz="2400" dirty="0"/>
              <a:t>/</a:t>
            </a:r>
            <a:r>
              <a:rPr lang="ru-RU" sz="2400" dirty="0" err="1"/>
              <a:t>office</a:t>
            </a:r>
            <a:r>
              <a:rPr lang="ru-RU" sz="2400" dirty="0"/>
              <a:t>/</a:t>
            </a:r>
            <a:r>
              <a:rPr lang="ru-RU" sz="2400" dirty="0" err="1"/>
              <a:t>partially</a:t>
            </a:r>
            <a:r>
              <a:rPr lang="ru-RU" sz="2400" dirty="0"/>
              <a:t> </a:t>
            </a:r>
            <a:r>
              <a:rPr lang="ru-RU" sz="2400" dirty="0" err="1"/>
              <a:t>office</a:t>
            </a:r>
            <a:r>
              <a:rPr lang="ru-RU" sz="2400" dirty="0"/>
              <a:t> </a:t>
            </a:r>
            <a:r>
              <a:rPr lang="ru-RU" sz="2400" dirty="0" err="1"/>
              <a:t>positions</a:t>
            </a:r>
            <a:r>
              <a:rPr lang="ru-RU" sz="2400" dirty="0"/>
              <a:t> ?</a:t>
            </a:r>
          </a:p>
          <a:p>
            <a:endParaRPr lang="ru-R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B2A9960-D7B4-8693-1084-55D37FF5A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298293" cy="37329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440992-BC59-EC30-EB5E-AA67848847BC}"/>
              </a:ext>
            </a:extLst>
          </p:cNvPr>
          <p:cNvSpPr txBox="1"/>
          <p:nvPr/>
        </p:nvSpPr>
        <p:spPr>
          <a:xfrm>
            <a:off x="1749313" y="5271171"/>
            <a:ext cx="347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Questions 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92624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D019-DF5D-FE77-908B-6B425EFC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на источники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37D67-1AEE-44BD-42A0-2D3EC9B15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unDraw. (n.d.). </a:t>
            </a:r>
            <a:r>
              <a:rPr lang="en-US" dirty="0"/>
              <a:t>Process </a:t>
            </a:r>
            <a:r>
              <a:rPr lang="ru-RU" dirty="0"/>
              <a:t>[Иллюстрация].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r>
              <a:rPr lang="ru-RU" dirty="0"/>
              <a:t>unDraw. (n.d.). </a:t>
            </a:r>
            <a:r>
              <a:rPr lang="en-US" dirty="0"/>
              <a:t>Goals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https://undraw.co/search/goals</a:t>
            </a:r>
            <a:endParaRPr lang="en-US" dirty="0"/>
          </a:p>
          <a:p>
            <a:r>
              <a:rPr lang="ru-RU" dirty="0"/>
              <a:t>unDraw. (n.d.). </a:t>
            </a:r>
            <a:r>
              <a:rPr lang="en-US" dirty="0"/>
              <a:t>Visual Data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https://undraw.co/search/visual-data</a:t>
            </a:r>
            <a:endParaRPr lang="en-US" dirty="0"/>
          </a:p>
          <a:p>
            <a:r>
              <a:rPr lang="ru-RU" dirty="0"/>
              <a:t>unDraw. (n.d.). </a:t>
            </a:r>
            <a:r>
              <a:rPr lang="en-US" dirty="0"/>
              <a:t>Questions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ru-RU" dirty="0"/>
              <a:t>Авторские материалы: </a:t>
            </a:r>
          </a:p>
          <a:p>
            <a:pPr marL="514350" indent="-514350">
              <a:buAutoNum type="arabicPeriod"/>
            </a:pPr>
            <a:r>
              <a:rPr lang="en-US" dirty="0"/>
              <a:t>Mobile Development Stack Dashboard [</a:t>
            </a:r>
            <a:r>
              <a:rPr lang="en-US" dirty="0" err="1"/>
              <a:t>Дашборд</a:t>
            </a:r>
            <a:r>
              <a:rPr lang="en-US" dirty="0"/>
              <a:t> Tableau]. </a:t>
            </a:r>
            <a:r>
              <a:rPr lang="en-US" u="sng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https://public.tableau.com/app/profile/ivan.ireev/viz/mobile_development_stack_dashboard/Dashboard1</a:t>
            </a:r>
            <a:endParaRPr lang="en-US" u="sng" dirty="0"/>
          </a:p>
          <a:p>
            <a:pPr marL="514350" indent="-514350">
              <a:buAutoNum type="arabicPeriod"/>
            </a:pPr>
            <a:r>
              <a:rPr lang="ru-RU" dirty="0"/>
              <a:t>Методология</a:t>
            </a:r>
            <a:r>
              <a:rPr lang="en-US" dirty="0"/>
              <a:t> [</a:t>
            </a:r>
            <a:r>
              <a:rPr lang="ru-RU" dirty="0"/>
              <a:t>Схема </a:t>
            </a:r>
            <a:r>
              <a:rPr lang="en-US" dirty="0"/>
              <a:t>Miro]. </a:t>
            </a:r>
            <a:r>
              <a:rPr 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https://miro.com/app/board/uXjVJjGG9q4=/?share_link_id=748928656338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88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1179</TotalTime>
  <Words>587</Words>
  <Application>Microsoft Office PowerPoint</Application>
  <PresentationFormat>Widescreen</PresentationFormat>
  <Paragraphs>79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Актуальность темы</vt:lpstr>
      <vt:lpstr>Проблема и цель исследования</vt:lpstr>
      <vt:lpstr>Методология</vt:lpstr>
      <vt:lpstr>Результаты 1</vt:lpstr>
      <vt:lpstr>Результаты 2</vt:lpstr>
      <vt:lpstr>Выводы и рекомендации</vt:lpstr>
      <vt:lpstr>Спасибо за внимание</vt:lpstr>
      <vt:lpstr>Ответы рецензенту</vt:lpstr>
      <vt:lpstr>Ссылки на 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31</cp:revision>
  <dcterms:created xsi:type="dcterms:W3CDTF">2025-11-24T11:42:56Z</dcterms:created>
  <dcterms:modified xsi:type="dcterms:W3CDTF">2025-12-02T13:06:22Z</dcterms:modified>
</cp:coreProperties>
</file>